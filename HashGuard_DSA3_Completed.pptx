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pPr algn="ctr"/>
            <a:r>
              <a:rPr sz="2000" b="1">
                <a:solidFill>
                  <a:srgbClr val="2B66A6"/>
                </a:solidFill>
                <a:latin typeface="Aptos"/>
              </a:rPr>
              <a:t>Data Structures and Algorithms – 3 (25CS2103E)</a:t>
            </a:r>
          </a:p>
          <a:p>
            <a:pPr algn="ctr">
              <a:spcBef>
                <a:spcPts val="2000"/>
              </a:spcBef>
            </a:pPr>
            <a:r>
              <a:rPr sz="3000" b="1">
                <a:solidFill>
                  <a:srgbClr val="142745"/>
                </a:solidFill>
                <a:latin typeface="Aptos Display"/>
              </a:rPr>
              <a:t>HashGuard – Plagiarism Detection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2B66A6"/>
                </a:solidFill>
                <a:latin typeface="Aptos"/>
              </a:rPr>
              <a:t>Team Members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6303D"/>
                </a:solidFill>
                <a:latin typeface="Aptos"/>
              </a:rPr>
              <a:t>Lekkala Pranavi  |  2520030050</a:t>
            </a:r>
          </a:p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6303D"/>
                </a:solidFill>
                <a:latin typeface="Aptos"/>
              </a:rPr>
              <a:t>Sohith  |  2520030389</a:t>
            </a:r>
          </a:p>
          <a:p>
            <a:pPr algn="ctr">
              <a:spcAft>
                <a:spcPts val="300"/>
              </a:spcAft>
            </a:pPr>
          </a:p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B66A6"/>
                </a:solidFill>
                <a:latin typeface="Aptos"/>
              </a:rPr>
              <a:t>Under the Esteemed Guidance of</a:t>
            </a:r>
          </a:p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42745"/>
                </a:solidFill>
                <a:latin typeface="Aptos"/>
              </a:rPr>
              <a:t>Mrs. J. Yamini Devi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26303D"/>
                </a:solidFill>
                <a:latin typeface="Aptos"/>
              </a:rPr>
              <a:t>Assistant Professor,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sz="2300">
                <a:solidFill>
                  <a:srgbClr val="142745"/>
                </a:solidFill>
                <a:latin typeface="Aptos"/>
              </a:rPr>
              <a:t>01  Abstract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02  Introduction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03  Literature Survey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04  Problem Statement &amp; Objectives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05  Flow Chart / System Workflow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06  Results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07  Hardware &amp; Software Requirements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08  Conclusion</a:t>
            </a:r>
          </a:p>
          <a:p>
            <a:pPr>
              <a:spcAft>
                <a:spcPts val="1300"/>
              </a:spcAft>
            </a:pPr>
            <a:r>
              <a:rPr sz="2300">
                <a:solidFill>
                  <a:srgbClr val="142745"/>
                </a:solidFill>
                <a:latin typeface="Aptos"/>
              </a:rPr>
              <a:t>09  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HashGuard is a Java-based, browser-accessible plagiarism detection application that compares text from two documents and identifies matching passages.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The detection engine uses the Rabin–Karp string-matching method with a polynomial rolling hash. Text is normalized, hashes are calculated for fixed-size windows, and each hash match is verified against the actual text to reject collisions.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The application displays matching passages and document similarity estimates through a web interface. It demonstrates how hashing, string processing, and efficient search can be applied to a practical document-comparison task.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Keywords: Plagiarism detection, Rabin–Karp, rolling hash, string matching, Java, text normalization.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Background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Plagiarism detection helps users identify repeated or copied text in assignments, reports, and other documents. Manual checking becomes difficult as document length and the number of comparisons increase.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Project overview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HashGuard provides a web interface for account access, document scanning, comparison results, and highlighted matching passages. The application is implemented in Java and uses the JDK's built-in HTTP server.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DSA connection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The core task is finding common text windows efficiently. Rabin–Karp uses hash values to shortlist candidate matches, while direct string comparison confirms that a match is genuine.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Scope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The current implementation focuses on exact text matches after normalization. It does not reliably identify paraphrased meaning or establish intent to plagiarize.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Naïve string matching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Checks a pattern at each possible text position. It is easy to understand but can repeat many character comparisons.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Rabin–Karp algorithm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Uses a hash of the pattern and rolling hashes of text windows. Hash matches are verified with direct comparison; this is the main algorithm used by HashGuard.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Rolling polynomial hash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Updates a window hash in constant time per shift, avoiding recalculation of every character contribution.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Text normalization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Lowercasing and standardizing punctuation/spacing can make equivalent text easier to compare, but aggressive normalization may remove meaningful distinctions.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Design decision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HashGuard indexes hashes for one document and checks windows from the other document. The current code does not implement KMP, Z-algorithm, suffix arrays, or semantic language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Problem statement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Manual comparison of lengthy documents is time-consuming and can overlook repeated passages. A practical tool is needed to automate text comparison and present likely overlaps clearly.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Objectives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• Accept supported text documents or pasted text.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Normalize text before comparison.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Use Rabin–Karp rolling hashes to find candidate matching windows.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Verify hash hits character-by-character to handle collisions.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Merge adjacent matches into passages and highlight them.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Display document-level similarity estimates in a browser interface.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Success criteria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The application should start locally, accept supported input, find exact repeated text after normalization, and present results in an understandable format.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024128"/>
            <a:ext cx="2743200" cy="438912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691640"/>
            <a:ext cx="4389120" cy="530352"/>
          </a:xfrm>
          <a:prstGeom prst="roundRect">
            <a:avLst/>
          </a:prstGeom>
          <a:solidFill>
            <a:srgbClr val="2B66A6"/>
          </a:solidFill>
          <a:ln>
            <a:solidFill>
              <a:srgbClr val="2B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User uploads / enters two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2487168"/>
            <a:ext cx="4389120" cy="530352"/>
          </a:xfrm>
          <a:prstGeom prst="roundRect">
            <a:avLst/>
          </a:prstGeom>
          <a:solidFill>
            <a:srgbClr val="238B8C"/>
          </a:solidFill>
          <a:ln>
            <a:solidFill>
              <a:srgbClr val="238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Extract text from supported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3282696"/>
            <a:ext cx="4389120" cy="530352"/>
          </a:xfrm>
          <a:prstGeom prst="roundRect">
            <a:avLst/>
          </a:prstGeom>
          <a:solidFill>
            <a:srgbClr val="2B66A6"/>
          </a:solidFill>
          <a:ln>
            <a:solidFill>
              <a:srgbClr val="2B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Normalize text and preserve positions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078224"/>
            <a:ext cx="5486400" cy="530352"/>
          </a:xfrm>
          <a:prstGeom prst="roundRect">
            <a:avLst/>
          </a:prstGeom>
          <a:solidFill>
            <a:srgbClr val="238B8C"/>
          </a:solidFill>
          <a:ln>
            <a:solidFill>
              <a:srgbClr val="238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Compute rolling hashes for k-character windows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873752"/>
            <a:ext cx="4846320" cy="530352"/>
          </a:xfrm>
          <a:prstGeom prst="roundRect">
            <a:avLst/>
          </a:prstGeom>
          <a:solidFill>
            <a:srgbClr val="2B66A6"/>
          </a:solidFill>
          <a:ln>
            <a:solidFill>
              <a:srgbClr val="2B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Index hashes; verify candidate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669280"/>
            <a:ext cx="4846320" cy="530352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Merge passages and calculate overlap 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463040"/>
            <a:ext cx="0" cy="228600"/>
          </a:xfrm>
          <a:prstGeom prst="line">
            <a:avLst/>
          </a:prstGeom>
          <a:ln w="25400">
            <a:solidFill>
              <a:srgbClr val="DCA6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221992"/>
            <a:ext cx="0" cy="265176"/>
          </a:xfrm>
          <a:prstGeom prst="line">
            <a:avLst/>
          </a:prstGeom>
          <a:ln w="25400">
            <a:solidFill>
              <a:srgbClr val="DCA6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3017520"/>
            <a:ext cx="0" cy="265176"/>
          </a:xfrm>
          <a:prstGeom prst="line">
            <a:avLst/>
          </a:prstGeom>
          <a:ln w="25400">
            <a:solidFill>
              <a:srgbClr val="DCA6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3813048"/>
            <a:ext cx="0" cy="265176"/>
          </a:xfrm>
          <a:prstGeom prst="line">
            <a:avLst/>
          </a:prstGeom>
          <a:ln w="25400">
            <a:solidFill>
              <a:srgbClr val="DCA6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4608576"/>
            <a:ext cx="0" cy="265176"/>
          </a:xfrm>
          <a:prstGeom prst="line">
            <a:avLst/>
          </a:prstGeom>
          <a:ln w="25400">
            <a:solidFill>
              <a:srgbClr val="DCA6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5404104"/>
            <a:ext cx="0" cy="265176"/>
          </a:xfrm>
          <a:prstGeom prst="line">
            <a:avLst/>
          </a:prstGeom>
          <a:ln w="25400">
            <a:solidFill>
              <a:srgbClr val="DCA6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Implemented features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• Java HTTP server and browser interface.</a:t>
            </a:r>
            <a:br/>
            <a:r>
              <a:rPr sz="1500">
                <a:solidFill>
                  <a:srgbClr val="26303D"/>
                </a:solidFill>
                <a:latin typeface="Aptos"/>
              </a:rPr>
              <a:t>• Sign-up / login screens and dashboard flow.</a:t>
            </a:r>
            <a:br/>
            <a:r>
              <a:rPr sz="1500">
                <a:solidFill>
                  <a:srgbClr val="26303D"/>
                </a:solidFill>
                <a:latin typeface="Aptos"/>
              </a:rPr>
              <a:t>• Text comparison using rolling polynomial hashes.</a:t>
            </a:r>
            <a:br/>
            <a:r>
              <a:rPr sz="1500">
                <a:solidFill>
                  <a:srgbClr val="26303D"/>
                </a:solidFill>
                <a:latin typeface="Aptos"/>
              </a:rPr>
              <a:t>• Collision verification and matching-passage grouping.</a:t>
            </a:r>
            <a:br/>
            <a:r>
              <a:rPr sz="1500">
                <a:solidFill>
                  <a:srgbClr val="26303D"/>
                </a:solidFill>
                <a:latin typeface="Aptos"/>
              </a:rPr>
              <a:t>• Similarity indicators and highlighted matches.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Input formats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TXT and DOCX text are read by the Java server. PDF text extraction is performed in the browser using PDF.js and requires that library to load.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Observed run status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The Java source compiled successfully. A later launch reported that the address was already in use, which indicates another process was already bound to the configured port; this is not a compilation error.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600" b="1">
                <a:solidFill>
                  <a:srgbClr val="2B66A6"/>
                </a:solidFill>
                <a:latin typeface="Aptos Display"/>
              </a:rPr>
              <a:t>Important interpretation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6303D"/>
                </a:solidFill>
                <a:latin typeface="Aptos"/>
              </a:rPr>
              <a:t>The score is an overlap estimate based on normalized character coverage. It is not a universal plagiarism verdict. Add screenshots of the running page and real comparison results before presenting.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Hardware and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Hardware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• Laptop or desktop computer.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Modern multi-core processor recommended.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Sufficient RAM for the operating system, browser, and Java runtime.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Storage for source files and sample documents.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• Windows, macOS, or Linux.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JDK 17 or newer.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Visual Studio Code or another Java editor (optional).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Modern browser such as Chrome or Edge.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JDK built-in com.sun.net.httpserver HTTP server; no Maven or Gradle required.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700" b="1">
                <a:solidFill>
                  <a:srgbClr val="2B66A6"/>
                </a:solidFill>
                <a:latin typeface="Aptos Display"/>
              </a:rPr>
              <a:t>Libraries / data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6303D"/>
                </a:solidFill>
                <a:latin typeface="Aptos"/>
              </a:rPr>
              <a:t>• PDF.js is used in the browser for PDF text extraction and requires internet access unless bundled locally.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User records are stored in data/users.tsv using salted PBKDF2 password hashes.</a:t>
            </a:r>
            <a:br/>
            <a:r>
              <a:rPr sz="1600">
                <a:solidFill>
                  <a:srgbClr val="26303D"/>
                </a:solidFill>
                <a:latin typeface="Aptos"/>
              </a:rPr>
              <a:t>• Scan history is kept in memory and resets when the server restarts.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HashGuard demonstrates a practical application of Data Structures and Algorithms in document comparison. Its Java application combines text normalization, polynomial rolling hashes, hash indexing, collision verification, and grouping of matching windows.</a:t>
            </a:r>
          </a:p>
          <a:p>
            <a:pPr>
              <a:spcAft>
                <a:spcPts val="8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The web interface presents matches in a way that is easier to inspect than manual comparison alone. The project also demonstrates the relationship between algorithm design and a usable software application.</a:t>
            </a:r>
          </a:p>
          <a:p>
            <a:pPr>
              <a:spcAft>
                <a:spcPts val="8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The current system is strongest at detecting exact or near-exact passages after normalization. It should be treated as an assistance tool: its similarity score does not by itself prove plagiarism, and heavily reworded text may be missed.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3000">
                <a:latin typeface="Aptos Display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44200" cy="5166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Add KMP and Z-algorithm implementations for educational comparison of string-matching methods.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Improve handling of short passages and configurable matching-window sizes.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Support more document formats and improve extraction from complex PDFs.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Add downloadable reports with matched passages and document statistics.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Introduce semantic similarity methods to detect paraphrased content.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Move account management and persistent scan history to a secure backend/database if multi-user deployment is required.</a:t>
            </a:r>
          </a:p>
          <a:p>
            <a:pPr>
              <a:spcAft>
                <a:spcPts val="8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• Bundle external libraries locally and add more systematic performance and correctness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651052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6476"/>
                </a:solidFill>
                <a:latin typeface="Aptos"/>
              </a:rPr>
              <a:t>HashGuard | DSA-3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142745"/>
                </a:solidFill>
                <a:latin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