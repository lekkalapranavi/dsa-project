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1" r:id="rId6"/>
    <p:sldId id="265" r:id="rId7"/>
    <p:sldId id="259" r:id="rId8"/>
    <p:sldId id="267" r:id="rId9"/>
    <p:sldId id="266" r:id="rId10"/>
    <p:sldId id="260" r:id="rId11"/>
    <p:sldId id="262"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9043DEB-3638-4E23-B2CD-4600B3558381}" v="5" dt="2026-08-23T13:01:32.18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7" d="100"/>
          <a:sy n="77" d="100"/>
        </p:scale>
        <p:origin x="77" y="47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8/23/2026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8/23/2026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8/23/2026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8/23/2026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8/23/2026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8/23/2026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8/23/2026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8/23/2026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8/23/2026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8/23/2026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8/23/2026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1938" y="1027775"/>
            <a:ext cx="9144000" cy="2316702"/>
          </a:xfrm>
        </p:spPr>
        <p:txBody>
          <a:bodyPr/>
          <a:lstStyle/>
          <a:p>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Data Structures and Algorithms -3 (25CS2103E)</a:t>
            </a:r>
            <a:br>
              <a:rPr lang="en-US" sz="4000" b="1" dirty="0">
                <a:solidFill>
                  <a:srgbClr val="C00000"/>
                </a:solidFill>
                <a:latin typeface="+mn-lt"/>
              </a:rPr>
            </a:br>
            <a:br>
              <a:rPr lang="en-US" sz="4000" b="1" dirty="0">
                <a:solidFill>
                  <a:srgbClr val="C00000"/>
                </a:solidFill>
                <a:latin typeface="+mn-lt"/>
              </a:rPr>
            </a:br>
            <a:r>
              <a:rPr lang="en-IN" sz="4000" b="1" dirty="0"/>
              <a:t>Plagiarism Detector</a:t>
            </a:r>
            <a:endParaRPr lang="en-US" sz="4000" b="1" dirty="0">
              <a:solidFill>
                <a:srgbClr val="C00000"/>
              </a:solidFill>
              <a:latin typeface="+mn-lt"/>
            </a:endParaRPr>
          </a:p>
        </p:txBody>
      </p:sp>
      <p:sp>
        <p:nvSpPr>
          <p:cNvPr id="3" name="Subtitle 2"/>
          <p:cNvSpPr>
            <a:spLocks noGrp="1"/>
          </p:cNvSpPr>
          <p:nvPr>
            <p:ph type="subTitle" idx="1"/>
          </p:nvPr>
        </p:nvSpPr>
        <p:spPr>
          <a:xfrm>
            <a:off x="4270160" y="3513524"/>
            <a:ext cx="4551284" cy="1396014"/>
          </a:xfrm>
        </p:spPr>
        <p:txBody>
          <a:bodyPr/>
          <a:lstStyle/>
          <a:p>
            <a:r>
              <a:rPr lang="en-US" dirty="0">
                <a:solidFill>
                  <a:srgbClr val="0070C0"/>
                </a:solidFill>
              </a:rPr>
              <a:t>Team Members</a:t>
            </a:r>
          </a:p>
          <a:p>
            <a:r>
              <a:rPr lang="en-US" dirty="0">
                <a:solidFill>
                  <a:srgbClr val="0070C0"/>
                </a:solidFill>
              </a:rPr>
              <a:t>Sohith Sai Veldi-2520030389</a:t>
            </a:r>
          </a:p>
          <a:p>
            <a:r>
              <a:rPr lang="en-US" dirty="0">
                <a:solidFill>
                  <a:srgbClr val="0070C0"/>
                </a:solidFill>
              </a:rPr>
              <a:t>Lekkala Pranavi-2520030050</a:t>
            </a:r>
          </a:p>
          <a:p>
            <a:pPr marL="171450" algn="ctr">
              <a:lnSpc>
                <a:spcPct val="107000"/>
              </a:lnSpc>
              <a:spcAft>
                <a:spcPts val="800"/>
              </a:spcAft>
            </a:pPr>
            <a:endPar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pPr marL="171450" algn="ctr">
              <a:lnSpc>
                <a:spcPct val="107000"/>
              </a:lnSpc>
              <a:spcAft>
                <a:spcPts val="800"/>
              </a:spcAft>
            </a:pPr>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Under the Esteemed Guidance of</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r>
              <a:rPr lang="en-IN" sz="1800" b="1" dirty="0"/>
              <a:t>Mrs. J. Yamini Devi</a:t>
            </a:r>
            <a:endParaRPr lang="en-IN" sz="1800" dirty="0"/>
          </a:p>
          <a:p>
            <a:r>
              <a:rPr lang="en-IN" sz="1800" b="1" dirty="0"/>
              <a:t>Assistant Professor, Department of CSE</a:t>
            </a:r>
            <a:endParaRPr lang="en-IN" sz="1800" dirty="0"/>
          </a:p>
          <a:p>
            <a:pPr algn="ctr">
              <a:lnSpc>
                <a:spcPct val="107000"/>
              </a:lnSpc>
              <a:spcAft>
                <a:spcPts val="800"/>
              </a:spcAft>
            </a:pP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endParaRPr lang="en-US" dirty="0">
              <a:solidFill>
                <a:srgbClr val="0070C0"/>
              </a:solidFill>
            </a:endParaRPr>
          </a:p>
          <a:p>
            <a:endParaRPr lang="en-US"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736109" y="800755"/>
            <a:ext cx="6936386" cy="5835572"/>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Abstract</a:t>
            </a: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Introduction</a:t>
            </a:r>
            <a:endParaRPr lang="en-IN" sz="3200" b="0" i="0" u="none" strike="noStrike" dirty="0">
              <a:effectLst/>
              <a:latin typeface="Arial" panose="020B0604020202020204" pitchFamily="34" charset="0"/>
            </a:endParaRPr>
          </a:p>
          <a:p>
            <a:pPr marL="457200" indent="-457200" algn="l" rtl="0" eaLnBrk="1" fontAlgn="t" latinLnBrk="0" hangingPunct="1">
              <a:lnSpc>
                <a:spcPct val="150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Literature survey</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Problem Statement and Objectives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Results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Future Scope </a:t>
            </a:r>
            <a:endParaRPr lang="en-IN" sz="3200" b="0" i="0" u="none" strike="noStrike" dirty="0">
              <a:effectLst/>
              <a:latin typeface="Arial" panose="020B0604020202020204" pitchFamily="34" charset="0"/>
            </a:endParaRPr>
          </a:p>
          <a:p>
            <a:endParaRPr lang="en-IN" dirty="0"/>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7" name="TextBox 6">
            <a:extLst>
              <a:ext uri="{FF2B5EF4-FFF2-40B4-BE49-F238E27FC236}">
                <a16:creationId xmlns:a16="http://schemas.microsoft.com/office/drawing/2014/main" id="{6F9F827F-507A-5677-B1E0-054708BB46E5}"/>
              </a:ext>
            </a:extLst>
          </p:cNvPr>
          <p:cNvSpPr txBox="1"/>
          <p:nvPr/>
        </p:nvSpPr>
        <p:spPr>
          <a:xfrm>
            <a:off x="775252" y="958769"/>
            <a:ext cx="11002618" cy="4524315"/>
          </a:xfrm>
          <a:prstGeom prst="rect">
            <a:avLst/>
          </a:prstGeom>
          <a:noFill/>
        </p:spPr>
        <p:txBody>
          <a:bodyPr wrap="square">
            <a:spAutoFit/>
          </a:bodyPr>
          <a:lstStyle/>
          <a:p>
            <a:pPr>
              <a:buNone/>
            </a:pPr>
            <a:endParaRPr lang="en-IN" sz="2400" b="1" dirty="0"/>
          </a:p>
          <a:p>
            <a:pPr>
              <a:buNone/>
            </a:pPr>
            <a:r>
              <a:rPr lang="en-IN" sz="2400" dirty="0"/>
              <a:t>The Plagiarism Detection System is a Java-based application developed using Data Structures and Algorithms to identify similarities between two or more textual documents. The system processes the input documents by extracting and comparing their words and phrases to determine the amount of matching content. Data structures such as HashMap, HashSet, arrays, and </a:t>
            </a:r>
            <a:r>
              <a:rPr lang="en-IN" sz="2400" dirty="0" err="1"/>
              <a:t>ArrayList</a:t>
            </a:r>
            <a:r>
              <a:rPr lang="en-IN" sz="2400" dirty="0"/>
              <a:t> are used for efficient storage, searching, and comparison of textual data. The system calculates a similarity score and presents the result as a plagiarism percentage, helping users understand the extent of duplicated content. The project demonstrates how fundamental data structures and searching techniques can be applied to solve a real-world problem. It provides a simple and efficient approach for detecting potential plagiarism in academic assignments, reports, and other text-based documents.</a:t>
            </a:r>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Introduction</a:t>
            </a:r>
          </a:p>
        </p:txBody>
      </p:sp>
      <p:sp>
        <p:nvSpPr>
          <p:cNvPr id="5" name="TextBox 4">
            <a:extLst>
              <a:ext uri="{FF2B5EF4-FFF2-40B4-BE49-F238E27FC236}">
                <a16:creationId xmlns:a16="http://schemas.microsoft.com/office/drawing/2014/main" id="{DDF4AB90-1931-DC92-95A0-ADB4E0851C62}"/>
              </a:ext>
            </a:extLst>
          </p:cNvPr>
          <p:cNvSpPr txBox="1"/>
          <p:nvPr/>
        </p:nvSpPr>
        <p:spPr>
          <a:xfrm>
            <a:off x="526774" y="1123122"/>
            <a:ext cx="11499574" cy="3416320"/>
          </a:xfrm>
          <a:prstGeom prst="rect">
            <a:avLst/>
          </a:prstGeom>
          <a:noFill/>
        </p:spPr>
        <p:txBody>
          <a:bodyPr wrap="square">
            <a:spAutoFit/>
          </a:bodyPr>
          <a:lstStyle/>
          <a:p>
            <a:pPr marL="342900" lvl="0" indent="-342900">
              <a:buFont typeface="Arial" panose="020B0604020202020204" pitchFamily="34" charset="0"/>
              <a:buChar char="•"/>
            </a:pPr>
            <a:r>
              <a:rPr lang="en-IN" sz="2400" b="1" dirty="0"/>
              <a:t>Plagiarism Detector</a:t>
            </a:r>
            <a:r>
              <a:rPr lang="en-IN" sz="2400" dirty="0"/>
              <a:t> is a Java-based project designed to identify similarities between two or more text documents. </a:t>
            </a:r>
          </a:p>
          <a:p>
            <a:pPr marL="342900" lvl="0" indent="-342900">
              <a:buFont typeface="Arial" panose="020B0604020202020204" pitchFamily="34" charset="0"/>
              <a:buChar char="•"/>
            </a:pPr>
            <a:r>
              <a:rPr lang="en-IN" sz="2400" dirty="0"/>
              <a:t>It compares the content of documents to detect </a:t>
            </a:r>
            <a:r>
              <a:rPr lang="en-IN" sz="2400" b="1" dirty="0"/>
              <a:t>copied or matching text</a:t>
            </a:r>
            <a:r>
              <a:rPr lang="en-IN" sz="2400" dirty="0"/>
              <a:t>. </a:t>
            </a:r>
          </a:p>
          <a:p>
            <a:pPr marL="342900" lvl="0" indent="-342900">
              <a:buFont typeface="Arial" panose="020B0604020202020204" pitchFamily="34" charset="0"/>
              <a:buChar char="•"/>
            </a:pPr>
            <a:r>
              <a:rPr lang="en-IN" sz="2400" dirty="0"/>
              <a:t>The system uses </a:t>
            </a:r>
            <a:r>
              <a:rPr lang="en-IN" sz="2400" b="1" dirty="0"/>
              <a:t>Data Structures and Algorithms</a:t>
            </a:r>
            <a:r>
              <a:rPr lang="en-IN" sz="2400" dirty="0"/>
              <a:t> for efficient text storage, searching, and comparison. </a:t>
            </a:r>
          </a:p>
          <a:p>
            <a:pPr marL="342900" lvl="0" indent="-342900">
              <a:buFont typeface="Arial" panose="020B0604020202020204" pitchFamily="34" charset="0"/>
              <a:buChar char="•"/>
            </a:pPr>
            <a:r>
              <a:rPr lang="en-IN" sz="2400" dirty="0"/>
              <a:t>It calculates a </a:t>
            </a:r>
            <a:r>
              <a:rPr lang="en-IN" sz="2400" b="1" dirty="0"/>
              <a:t>similarity/plagiarism percentage</a:t>
            </a:r>
            <a:r>
              <a:rPr lang="en-IN" sz="2400" dirty="0"/>
              <a:t> based on the matching content. </a:t>
            </a:r>
          </a:p>
          <a:p>
            <a:pPr marL="342900" lvl="0" indent="-342900">
              <a:buFont typeface="Arial" panose="020B0604020202020204" pitchFamily="34" charset="0"/>
              <a:buChar char="•"/>
            </a:pPr>
            <a:r>
              <a:rPr lang="en-IN" sz="2400" dirty="0"/>
              <a:t>The project can be useful for checking </a:t>
            </a:r>
            <a:r>
              <a:rPr lang="en-IN" sz="2400" b="1" dirty="0"/>
              <a:t>academic assignments, reports, and other text-based documents</a:t>
            </a:r>
            <a:r>
              <a:rPr lang="en-IN" sz="2400" dirty="0"/>
              <a:t>. </a:t>
            </a:r>
          </a:p>
          <a:p>
            <a:pPr marL="342900" lvl="0" indent="-342900">
              <a:buFont typeface="Arial" panose="020B0604020202020204" pitchFamily="34" charset="0"/>
              <a:buChar char="•"/>
            </a:pPr>
            <a:r>
              <a:rPr lang="en-IN" sz="2400" dirty="0"/>
              <a:t>It demonstrates how DSA concepts can be applied to solve a </a:t>
            </a:r>
            <a:r>
              <a:rPr lang="en-IN" sz="2400" b="1" dirty="0"/>
              <a:t>real-world problem</a:t>
            </a:r>
            <a:r>
              <a:rPr lang="en-IN" sz="2400" dirty="0"/>
              <a: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Literature Survey</a:t>
            </a:r>
          </a:p>
        </p:txBody>
      </p:sp>
      <p:graphicFrame>
        <p:nvGraphicFramePr>
          <p:cNvPr id="4" name="Table 3">
            <a:extLst>
              <a:ext uri="{FF2B5EF4-FFF2-40B4-BE49-F238E27FC236}">
                <a16:creationId xmlns:a16="http://schemas.microsoft.com/office/drawing/2014/main" id="{086A9288-6C51-4785-8D04-B96A131FF5F0}"/>
              </a:ext>
            </a:extLst>
          </p:cNvPr>
          <p:cNvGraphicFramePr>
            <a:graphicFrameLocks noGrp="1"/>
          </p:cNvGraphicFramePr>
          <p:nvPr>
            <p:extLst>
              <p:ext uri="{D42A27DB-BD31-4B8C-83A1-F6EECF244321}">
                <p14:modId xmlns:p14="http://schemas.microsoft.com/office/powerpoint/2010/main" val="1086021787"/>
              </p:ext>
            </p:extLst>
          </p:nvPr>
        </p:nvGraphicFramePr>
        <p:xfrm>
          <a:off x="298174" y="1073426"/>
          <a:ext cx="11658601" cy="5039138"/>
        </p:xfrm>
        <a:graphic>
          <a:graphicData uri="http://schemas.openxmlformats.org/drawingml/2006/table">
            <a:tbl>
              <a:tblPr/>
              <a:tblGrid>
                <a:gridCol w="3358095">
                  <a:extLst>
                    <a:ext uri="{9D8B030D-6E8A-4147-A177-3AD203B41FA5}">
                      <a16:colId xmlns:a16="http://schemas.microsoft.com/office/drawing/2014/main" val="3728012872"/>
                    </a:ext>
                  </a:extLst>
                </a:gridCol>
                <a:gridCol w="4150253">
                  <a:extLst>
                    <a:ext uri="{9D8B030D-6E8A-4147-A177-3AD203B41FA5}">
                      <a16:colId xmlns:a16="http://schemas.microsoft.com/office/drawing/2014/main" val="3156143659"/>
                    </a:ext>
                  </a:extLst>
                </a:gridCol>
                <a:gridCol w="4150253">
                  <a:extLst>
                    <a:ext uri="{9D8B030D-6E8A-4147-A177-3AD203B41FA5}">
                      <a16:colId xmlns:a16="http://schemas.microsoft.com/office/drawing/2014/main" val="2055968922"/>
                    </a:ext>
                  </a:extLst>
                </a:gridCol>
              </a:tblGrid>
              <a:tr h="442627">
                <a:tc>
                  <a:txBody>
                    <a:bodyPr/>
                    <a:lstStyle/>
                    <a:p>
                      <a:pPr>
                        <a:buNone/>
                      </a:pPr>
                      <a:r>
                        <a:rPr lang="en-IN" sz="2000"/>
                        <a:t>Existing Approach</a:t>
                      </a:r>
                    </a:p>
                  </a:txBody>
                  <a:tcPr anchor="ctr">
                    <a:lnL>
                      <a:noFill/>
                    </a:lnL>
                    <a:lnR>
                      <a:noFill/>
                    </a:lnR>
                    <a:lnT>
                      <a:noFill/>
                    </a:lnT>
                    <a:lnB>
                      <a:noFill/>
                    </a:lnB>
                    <a:noFill/>
                  </a:tcPr>
                </a:tc>
                <a:tc>
                  <a:txBody>
                    <a:bodyPr/>
                    <a:lstStyle/>
                    <a:p>
                      <a:pPr>
                        <a:buNone/>
                      </a:pPr>
                      <a:r>
                        <a:rPr lang="en-IN" sz="2000"/>
                        <a:t>Method Used</a:t>
                      </a:r>
                    </a:p>
                  </a:txBody>
                  <a:tcPr anchor="ctr">
                    <a:lnL>
                      <a:noFill/>
                    </a:lnL>
                    <a:lnR>
                      <a:noFill/>
                    </a:lnR>
                    <a:lnT>
                      <a:noFill/>
                    </a:lnT>
                    <a:lnB>
                      <a:noFill/>
                    </a:lnB>
                    <a:noFill/>
                  </a:tcPr>
                </a:tc>
                <a:tc>
                  <a:txBody>
                    <a:bodyPr/>
                    <a:lstStyle/>
                    <a:p>
                      <a:pPr>
                        <a:buNone/>
                      </a:pPr>
                      <a:r>
                        <a:rPr lang="en-IN" sz="2000"/>
                        <a:t>Limitation</a:t>
                      </a:r>
                    </a:p>
                  </a:txBody>
                  <a:tcPr anchor="ctr">
                    <a:lnL>
                      <a:noFill/>
                    </a:lnL>
                    <a:lnR>
                      <a:noFill/>
                    </a:lnR>
                    <a:lnT>
                      <a:noFill/>
                    </a:lnT>
                    <a:lnB>
                      <a:noFill/>
                    </a:lnB>
                    <a:noFill/>
                  </a:tcPr>
                </a:tc>
                <a:extLst>
                  <a:ext uri="{0D108BD9-81ED-4DB2-BD59-A6C34878D82A}">
                    <a16:rowId xmlns:a16="http://schemas.microsoft.com/office/drawing/2014/main" val="920444353"/>
                  </a:ext>
                </a:extLst>
              </a:tr>
              <a:tr h="783109">
                <a:tc>
                  <a:txBody>
                    <a:bodyPr/>
                    <a:lstStyle/>
                    <a:p>
                      <a:pPr>
                        <a:buNone/>
                      </a:pPr>
                      <a:r>
                        <a:rPr lang="en-IN" sz="2000" b="1"/>
                        <a:t>String Matching Techniques</a:t>
                      </a:r>
                      <a:endParaRPr lang="en-IN" sz="2000"/>
                    </a:p>
                  </a:txBody>
                  <a:tcPr anchor="ctr">
                    <a:lnL>
                      <a:noFill/>
                    </a:lnL>
                    <a:lnR>
                      <a:noFill/>
                    </a:lnR>
                    <a:lnT>
                      <a:noFill/>
                    </a:lnT>
                    <a:lnB>
                      <a:noFill/>
                    </a:lnB>
                    <a:noFill/>
                  </a:tcPr>
                </a:tc>
                <a:tc>
                  <a:txBody>
                    <a:bodyPr/>
                    <a:lstStyle/>
                    <a:p>
                      <a:pPr>
                        <a:buNone/>
                      </a:pPr>
                      <a:r>
                        <a:rPr lang="en-IN" sz="2000" dirty="0"/>
                        <a:t>Compare exact words or phrases between documents</a:t>
                      </a:r>
                    </a:p>
                  </a:txBody>
                  <a:tcPr anchor="ctr">
                    <a:lnL>
                      <a:noFill/>
                    </a:lnL>
                    <a:lnR>
                      <a:noFill/>
                    </a:lnR>
                    <a:lnT>
                      <a:noFill/>
                    </a:lnT>
                    <a:lnB>
                      <a:noFill/>
                    </a:lnB>
                    <a:noFill/>
                  </a:tcPr>
                </a:tc>
                <a:tc>
                  <a:txBody>
                    <a:bodyPr/>
                    <a:lstStyle/>
                    <a:p>
                      <a:pPr>
                        <a:buNone/>
                      </a:pPr>
                      <a:r>
                        <a:rPr lang="en-IN" sz="2000"/>
                        <a:t>May miss rephrased content</a:t>
                      </a:r>
                    </a:p>
                  </a:txBody>
                  <a:tcPr anchor="ctr">
                    <a:lnL>
                      <a:noFill/>
                    </a:lnL>
                    <a:lnR>
                      <a:noFill/>
                    </a:lnR>
                    <a:lnT>
                      <a:noFill/>
                    </a:lnT>
                    <a:lnB>
                      <a:noFill/>
                    </a:lnB>
                    <a:noFill/>
                  </a:tcPr>
                </a:tc>
                <a:extLst>
                  <a:ext uri="{0D108BD9-81ED-4DB2-BD59-A6C34878D82A}">
                    <a16:rowId xmlns:a16="http://schemas.microsoft.com/office/drawing/2014/main" val="590076797"/>
                  </a:ext>
                </a:extLst>
              </a:tr>
              <a:tr h="1123592">
                <a:tc>
                  <a:txBody>
                    <a:bodyPr/>
                    <a:lstStyle/>
                    <a:p>
                      <a:pPr>
                        <a:buNone/>
                      </a:pPr>
                      <a:r>
                        <a:rPr lang="en-IN" sz="2000" b="1" dirty="0"/>
                        <a:t>TF-IDF Based Detection</a:t>
                      </a:r>
                      <a:endParaRPr lang="en-IN" sz="2000" dirty="0"/>
                    </a:p>
                  </a:txBody>
                  <a:tcPr anchor="ctr">
                    <a:lnL>
                      <a:noFill/>
                    </a:lnL>
                    <a:lnR>
                      <a:noFill/>
                    </a:lnR>
                    <a:lnT>
                      <a:noFill/>
                    </a:lnT>
                    <a:lnB>
                      <a:noFill/>
                    </a:lnB>
                    <a:noFill/>
                  </a:tcPr>
                </a:tc>
                <a:tc>
                  <a:txBody>
                    <a:bodyPr/>
                    <a:lstStyle/>
                    <a:p>
                      <a:pPr>
                        <a:buNone/>
                      </a:pPr>
                      <a:r>
                        <a:rPr lang="en-IN" sz="2000"/>
                        <a:t>Measures the importance of words and compares document similarity</a:t>
                      </a:r>
                    </a:p>
                  </a:txBody>
                  <a:tcPr anchor="ctr">
                    <a:lnL>
                      <a:noFill/>
                    </a:lnL>
                    <a:lnR>
                      <a:noFill/>
                    </a:lnR>
                    <a:lnT>
                      <a:noFill/>
                    </a:lnT>
                    <a:lnB>
                      <a:noFill/>
                    </a:lnB>
                    <a:noFill/>
                  </a:tcPr>
                </a:tc>
                <a:tc>
                  <a:txBody>
                    <a:bodyPr/>
                    <a:lstStyle/>
                    <a:p>
                      <a:pPr>
                        <a:buNone/>
                      </a:pPr>
                      <a:r>
                        <a:rPr lang="en-IN" sz="2000"/>
                        <a:t>Less effective for meaning-based similarity</a:t>
                      </a:r>
                    </a:p>
                  </a:txBody>
                  <a:tcPr anchor="ctr">
                    <a:lnL>
                      <a:noFill/>
                    </a:lnL>
                    <a:lnR>
                      <a:noFill/>
                    </a:lnR>
                    <a:lnT>
                      <a:noFill/>
                    </a:lnT>
                    <a:lnB>
                      <a:noFill/>
                    </a:lnB>
                    <a:noFill/>
                  </a:tcPr>
                </a:tc>
                <a:extLst>
                  <a:ext uri="{0D108BD9-81ED-4DB2-BD59-A6C34878D82A}">
                    <a16:rowId xmlns:a16="http://schemas.microsoft.com/office/drawing/2014/main" val="1730523495"/>
                  </a:ext>
                </a:extLst>
              </a:tr>
              <a:tr h="783109">
                <a:tc>
                  <a:txBody>
                    <a:bodyPr/>
                    <a:lstStyle/>
                    <a:p>
                      <a:pPr>
                        <a:buNone/>
                      </a:pPr>
                      <a:r>
                        <a:rPr lang="en-IN" sz="2000" b="1"/>
                        <a:t>Cosine Similarity</a:t>
                      </a:r>
                      <a:endParaRPr lang="en-IN" sz="2000"/>
                    </a:p>
                  </a:txBody>
                  <a:tcPr anchor="ctr">
                    <a:lnL>
                      <a:noFill/>
                    </a:lnL>
                    <a:lnR>
                      <a:noFill/>
                    </a:lnR>
                    <a:lnT>
                      <a:noFill/>
                    </a:lnT>
                    <a:lnB>
                      <a:noFill/>
                    </a:lnB>
                    <a:noFill/>
                  </a:tcPr>
                </a:tc>
                <a:tc>
                  <a:txBody>
                    <a:bodyPr/>
                    <a:lstStyle/>
                    <a:p>
                      <a:pPr>
                        <a:buNone/>
                      </a:pPr>
                      <a:r>
                        <a:rPr lang="en-IN" sz="2000"/>
                        <a:t>Calculates similarity between document vectors</a:t>
                      </a:r>
                    </a:p>
                  </a:txBody>
                  <a:tcPr anchor="ctr">
                    <a:lnL>
                      <a:noFill/>
                    </a:lnL>
                    <a:lnR>
                      <a:noFill/>
                    </a:lnR>
                    <a:lnT>
                      <a:noFill/>
                    </a:lnT>
                    <a:lnB>
                      <a:noFill/>
                    </a:lnB>
                    <a:noFill/>
                  </a:tcPr>
                </a:tc>
                <a:tc>
                  <a:txBody>
                    <a:bodyPr/>
                    <a:lstStyle/>
                    <a:p>
                      <a:pPr>
                        <a:buNone/>
                      </a:pPr>
                      <a:r>
                        <a:rPr lang="en-IN" sz="2000"/>
                        <a:t>Requires proper text preprocessing</a:t>
                      </a:r>
                    </a:p>
                  </a:txBody>
                  <a:tcPr anchor="ctr">
                    <a:lnL>
                      <a:noFill/>
                    </a:lnL>
                    <a:lnR>
                      <a:noFill/>
                    </a:lnR>
                    <a:lnT>
                      <a:noFill/>
                    </a:lnT>
                    <a:lnB>
                      <a:noFill/>
                    </a:lnB>
                    <a:noFill/>
                  </a:tcPr>
                </a:tc>
                <a:extLst>
                  <a:ext uri="{0D108BD9-81ED-4DB2-BD59-A6C34878D82A}">
                    <a16:rowId xmlns:a16="http://schemas.microsoft.com/office/drawing/2014/main" val="2556340171"/>
                  </a:ext>
                </a:extLst>
              </a:tr>
              <a:tr h="783109">
                <a:tc>
                  <a:txBody>
                    <a:bodyPr/>
                    <a:lstStyle/>
                    <a:p>
                      <a:pPr>
                        <a:buNone/>
                      </a:pPr>
                      <a:r>
                        <a:rPr lang="en-IN" sz="2000" b="1"/>
                        <a:t>N-gram Matching</a:t>
                      </a:r>
                      <a:endParaRPr lang="en-IN" sz="2000"/>
                    </a:p>
                  </a:txBody>
                  <a:tcPr anchor="ctr">
                    <a:lnL>
                      <a:noFill/>
                    </a:lnL>
                    <a:lnR>
                      <a:noFill/>
                    </a:lnR>
                    <a:lnT>
                      <a:noFill/>
                    </a:lnT>
                    <a:lnB>
                      <a:noFill/>
                    </a:lnB>
                    <a:noFill/>
                  </a:tcPr>
                </a:tc>
                <a:tc>
                  <a:txBody>
                    <a:bodyPr/>
                    <a:lstStyle/>
                    <a:p>
                      <a:pPr>
                        <a:buNone/>
                      </a:pPr>
                      <a:r>
                        <a:rPr lang="en-IN" sz="2000"/>
                        <a:t>Compares sequences of words between documents</a:t>
                      </a:r>
                    </a:p>
                  </a:txBody>
                  <a:tcPr anchor="ctr">
                    <a:lnL>
                      <a:noFill/>
                    </a:lnL>
                    <a:lnR>
                      <a:noFill/>
                    </a:lnR>
                    <a:lnT>
                      <a:noFill/>
                    </a:lnT>
                    <a:lnB>
                      <a:noFill/>
                    </a:lnB>
                    <a:noFill/>
                  </a:tcPr>
                </a:tc>
                <a:tc>
                  <a:txBody>
                    <a:bodyPr/>
                    <a:lstStyle/>
                    <a:p>
                      <a:pPr>
                        <a:buNone/>
                      </a:pPr>
                      <a:r>
                        <a:rPr lang="en-IN" sz="2000"/>
                        <a:t>Performance can decrease with large documents</a:t>
                      </a:r>
                    </a:p>
                  </a:txBody>
                  <a:tcPr anchor="ctr">
                    <a:lnL>
                      <a:noFill/>
                    </a:lnL>
                    <a:lnR>
                      <a:noFill/>
                    </a:lnR>
                    <a:lnT>
                      <a:noFill/>
                    </a:lnT>
                    <a:lnB>
                      <a:noFill/>
                    </a:lnB>
                    <a:noFill/>
                  </a:tcPr>
                </a:tc>
                <a:extLst>
                  <a:ext uri="{0D108BD9-81ED-4DB2-BD59-A6C34878D82A}">
                    <a16:rowId xmlns:a16="http://schemas.microsoft.com/office/drawing/2014/main" val="429441761"/>
                  </a:ext>
                </a:extLst>
              </a:tr>
              <a:tr h="1123592">
                <a:tc>
                  <a:txBody>
                    <a:bodyPr/>
                    <a:lstStyle/>
                    <a:p>
                      <a:pPr>
                        <a:buNone/>
                      </a:pPr>
                      <a:r>
                        <a:rPr lang="en-IN" sz="2000" b="1"/>
                        <a:t>Proposed System</a:t>
                      </a:r>
                      <a:endParaRPr lang="en-IN" sz="2000"/>
                    </a:p>
                  </a:txBody>
                  <a:tcPr anchor="ctr">
                    <a:lnL>
                      <a:noFill/>
                    </a:lnL>
                    <a:lnR>
                      <a:noFill/>
                    </a:lnR>
                    <a:lnT>
                      <a:noFill/>
                    </a:lnT>
                    <a:lnB>
                      <a:noFill/>
                    </a:lnB>
                    <a:noFill/>
                  </a:tcPr>
                </a:tc>
                <a:tc>
                  <a:txBody>
                    <a:bodyPr/>
                    <a:lstStyle/>
                    <a:p>
                      <a:pPr>
                        <a:buNone/>
                      </a:pPr>
                      <a:r>
                        <a:rPr lang="en-IN" sz="2000"/>
                        <a:t>Uses DSA concepts for efficient text storage, searching, and comparison</a:t>
                      </a:r>
                    </a:p>
                  </a:txBody>
                  <a:tcPr anchor="ctr">
                    <a:lnL>
                      <a:noFill/>
                    </a:lnL>
                    <a:lnR>
                      <a:noFill/>
                    </a:lnR>
                    <a:lnT>
                      <a:noFill/>
                    </a:lnT>
                    <a:lnB>
                      <a:noFill/>
                    </a:lnB>
                    <a:noFill/>
                  </a:tcPr>
                </a:tc>
                <a:tc>
                  <a:txBody>
                    <a:bodyPr/>
                    <a:lstStyle/>
                    <a:p>
                      <a:pPr>
                        <a:buNone/>
                      </a:pPr>
                      <a:r>
                        <a:rPr lang="en-IN" sz="2000" dirty="0"/>
                        <a:t>Focused mainly on text-based plagiarism</a:t>
                      </a:r>
                    </a:p>
                  </a:txBody>
                  <a:tcPr anchor="ctr">
                    <a:lnL>
                      <a:noFill/>
                    </a:lnL>
                    <a:lnR>
                      <a:noFill/>
                    </a:lnR>
                    <a:lnT>
                      <a:noFill/>
                    </a:lnT>
                    <a:lnB>
                      <a:noFill/>
                    </a:lnB>
                    <a:noFill/>
                  </a:tcPr>
                </a:tc>
                <a:extLst>
                  <a:ext uri="{0D108BD9-81ED-4DB2-BD59-A6C34878D82A}">
                    <a16:rowId xmlns:a16="http://schemas.microsoft.com/office/drawing/2014/main" val="4075101558"/>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p>
        </p:txBody>
      </p:sp>
    </p:spTree>
    <p:extLst>
      <p:ext uri="{BB962C8B-B14F-4D97-AF65-F5344CB8AC3E}">
        <p14:creationId xmlns:p14="http://schemas.microsoft.com/office/powerpoint/2010/main" val="3441026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Flow Chart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spTree>
    <p:extLst>
      <p:ext uri="{BB962C8B-B14F-4D97-AF65-F5344CB8AC3E}">
        <p14:creationId xmlns:p14="http://schemas.microsoft.com/office/powerpoint/2010/main" val="106092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spTree>
    <p:extLst>
      <p:ext uri="{BB962C8B-B14F-4D97-AF65-F5344CB8AC3E}">
        <p14:creationId xmlns:p14="http://schemas.microsoft.com/office/powerpoint/2010/main" val="2292750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Conclusion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 Future Scope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 you</a:t>
            </a: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TotalTime>
  <Words>390</Words>
  <Application>Microsoft Office PowerPoint</Application>
  <PresentationFormat>Widescreen</PresentationFormat>
  <Paragraphs>54</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Office Theme</vt:lpstr>
      <vt:lpstr>       Data Structures and Algorithms -3 (25CS2103E)  Plagiarism Detector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pranavi lekkala</cp:lastModifiedBy>
  <cp:revision>20</cp:revision>
  <dcterms:created xsi:type="dcterms:W3CDTF">2024-08-29T05:25:00Z</dcterms:created>
  <dcterms:modified xsi:type="dcterms:W3CDTF">2026-08-23T13:03:47Z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